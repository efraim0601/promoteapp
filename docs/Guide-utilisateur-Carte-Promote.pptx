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M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2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2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image2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bar"/>
          <p:cNvSpPr/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D81E2C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4" name="title"/>
          <p:cNvSpPr/>
          <p:nvPr/>
        </p:nvSpPr>
        <p:spPr>
          <a:xfrm>
            <a:off x="800000" y="2100000"/>
            <a:ext cx="10592000" cy="160000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rmAutofit/>
          </a:bodyPr>
          <a:lstStyle/>
          <a:p>
            <a:pPr marL="0" indent="0" algn="l">
              <a:buNone/>
            </a:pPr>
            <a:r>
              <a:rPr lang="fr-FR" sz="4000" b="1">
                <a:solidFill>
                  <a:srgbClr val="D81E2C"/>
                </a:solidFill>
              </a:rPr>
              <a:t>Carte Promote — Guide utilisateur</a:t>
            </a:r>
          </a:p>
        </p:txBody>
      </p:sp>
      <p:sp>
        <p:nvSpPr>
          <p:cNvPr id="5" name="sub"/>
          <p:cNvSpPr/>
          <p:nvPr/>
        </p:nvSpPr>
        <p:spPr>
          <a:xfrm>
            <a:off x="800000" y="3650000"/>
            <a:ext cx="10592000" cy="160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1800">
                <a:solidFill>
                  <a:srgbClr val="766164"/>
                </a:solidFill>
              </a:rPr>
              <a:t>Afriland First Bank · Souscription &amp; gestion de la carte prépayée</a:t>
            </a:r>
          </a:p>
          <a:p>
            <a:pPr marL="0" indent="0" algn="l">
              <a:buNone/>
            </a:pPr>
            <a:r>
              <a:rPr lang="fr-FR" sz="1300">
                <a:solidFill>
                  <a:srgbClr val="555555"/>
                </a:solidFill>
              </a:rPr>
              <a:t>• Application web : https://rfprepaidcard.afrilandfirstbank.com</a:t>
            </a:r>
          </a:p>
          <a:p>
            <a:pPr marL="0" indent="0" algn="l">
              <a:buNone/>
            </a:pPr>
            <a:r>
              <a:rPr lang="fr-FR" sz="1300">
                <a:solidFill>
                  <a:srgbClr val="555555"/>
                </a:solidFill>
              </a:rPr>
              <a:t>• Document de prise en main pour tous les profils</a:t>
            </a:r>
          </a:p>
          <a:p>
            <a:pPr marL="0" indent="0" algn="l">
              <a:buNone/>
            </a:pPr>
            <a:r>
              <a:rPr lang="fr-FR" sz="1300">
                <a:solidFill>
                  <a:srgbClr val="555555"/>
                </a:solidFill>
              </a:rPr>
              <a:t>• Captures réelles ci-après ; les écrans caméra/validation MoMo restent en emplacement à remplir.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B0F1E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800000" y="2700000"/>
            <a:ext cx="10592000" cy="140000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rmAutofit/>
          </a:bodyPr>
          <a:lstStyle/>
          <a:p>
            <a:pPr marL="0" indent="0" algn="l">
              <a:buNone/>
            </a:pPr>
            <a:r>
              <a:rPr lang="fr-FR" sz="3600" b="1">
                <a:solidFill>
                  <a:srgbClr val="FFFFFF"/>
                </a:solidFill>
              </a:rPr>
              <a:t>1. Accès &amp; rôles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Se connecter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Ouvrir https://rfprepaidcard.afrilandfirstbank.com dans un navigateur (Chrome / Edge / Safari).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Saisir son e-mail et son mot de passe, puis « Se connecter ».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 système ouvre l'espace correspondant au rôle du compte.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7639362" y="1250000"/>
            <a:ext cx="2471276" cy="505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Les trois rôles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Administrateur — tableau de bord, configuration, utilisateurs, historique des paiements.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Conseiller (commercial) — souscription assistée, ses ventes, réclamation de ventes QR.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Point d'impression (imprimeur) — recherche d'un dossier, validation, activation/impression de la carte.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Comparatif des 3 espaces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B0F1E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800000" y="2700000"/>
            <a:ext cx="10592000" cy="140000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rmAutofit/>
          </a:bodyPr>
          <a:lstStyle/>
          <a:p>
            <a:pPr marL="0" indent="0" algn="l">
              <a:buNone/>
            </a:pPr>
            <a:r>
              <a:rPr lang="fr-FR" sz="3600" b="1">
                <a:solidFill>
                  <a:srgbClr val="FFFFFF"/>
                </a:solidFill>
              </a:rPr>
              <a:t>2. Parcours CLIENT — souscription en ligne (QR)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Écran d'accueil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 client scanne le QR code présenté par le conseiller (ou ouvre le lien).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Titre : « Offre Promotionnelle pour votre carte prépayée AFB ».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Les 3 étapes sont rappelées, puis bouton « Commencer ».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7639362" y="1250000"/>
            <a:ext cx="2471276" cy="505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Étape 1 — Identité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Renseigner : prénom, nom, sexe, n° CNI, NIU (facultatif), date d'expiration de la CNI.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Date d'expiration : choisie via le calendrier (date picker).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Téléphone : sélecteur de pays (drapeau + indicatif, défaut Cameroun) puis le numéro.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E-mail, quartier, ville. Puis « Continuer ».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7639362" y="1250000"/>
            <a:ext cx="2471276" cy="505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Étape 2 — Pièce d'identité (CNI)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Photographier le RECTO puis le VERSO de la CNI avec la caméra arrière.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Suivre les conseils de cadrage (carte à plat, bien éclairée, sans reflet).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Les deux faces doivent être capturées pour continuer.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Capture CNI recto / verso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Étape 3 — Selfie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Prendre une photo en direct (caméra avant) pour la vérification d'identité (KYC).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Cadrer le visage dans l'ovale, dans un endroit éclairé.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Possibilité de reprendre la photo.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Prise du selfie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Étape 4 — Mode de paiement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Choisir : Orange Money, MTN MoMo, SARA Money ou Espèces.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Pour Mobile Money : saisir le NUMÉRO qui recevra la demande de paiement (peut différer du contact).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Sélecteur de pays disponible sur ce numéro également.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Choix du moyen de paiement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Récapitulatif &amp; lancement du paiement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Vérifier les informations + le montant (Prix de la carte = Total à payer).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Lancer le paiement : une demande est poussée vers le téléphone du client.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 client compose son code secret Orange Money / MTN MoMo.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Récapitulatif avant paiement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Résultat — Paiement réussi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Cercle VERT avec une coche, titre « Paiement réussi ».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Affichage de la référence (PRM-…), du QR et du reçu téléchargeable.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Statut « Payée ».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Écran « Paiement réussi »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Résultat — Échec / Solde insuffisant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Cercle ROUGE avec une alerte, titre « Paiement non abouti » (ou « Solde insuffisant »).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 motif exact renvoyé par l'opérateur est affiché.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Boutons « Réessayer » / « Accueil ». L'annulation côté USSD est détectée automatiquement.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Écran d'échec / solde insuffisant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B0F1E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800000" y="2700000"/>
            <a:ext cx="10592000" cy="140000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rmAutofit/>
          </a:bodyPr>
          <a:lstStyle/>
          <a:p>
            <a:pPr marL="0" indent="0" algn="l">
              <a:buNone/>
            </a:pPr>
            <a:r>
              <a:rPr lang="fr-FR" sz="3600" b="1">
                <a:solidFill>
                  <a:srgbClr val="FFFFFF"/>
                </a:solidFill>
              </a:rPr>
              <a:t>3. Parcours CONSEILLER (commercial)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Espace conseiller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Après connexion : ses statistiques et la liste de ses ventes.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Chaque ligne affiche la PHOTO du client + nom, téléphone, CNI, date, montant et statut.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Recherche avancée (référence, nom, NIU, téléphone).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6050000" y="1911285"/>
            <a:ext cx="5650000" cy="372743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Nouvelle souscription assistée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 conseiller saisit le dossier KYC du client (même formulaire que le parcours client).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Il lance ensuite le paiement (MoMo / espèces / SARA).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La vente est rattachée au conseiller.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Souscription assistée (formulaire)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Réclamer une vente QR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Pour s'attribuer une souscription faite en libre-service via QR.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Saisir le téléphone + le n° CNI du client.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Si la vente est payée et non attribuée, elle est ajoutée aux statistiques du conseiller.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Réclamation d'une vente (claim)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B0F1E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800000" y="2700000"/>
            <a:ext cx="10592000" cy="140000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rmAutofit/>
          </a:bodyPr>
          <a:lstStyle/>
          <a:p>
            <a:pPr marL="0" indent="0" algn="l">
              <a:buNone/>
            </a:pPr>
            <a:r>
              <a:rPr lang="fr-FR" sz="3600" b="1">
                <a:solidFill>
                  <a:srgbClr val="FFFFFF"/>
                </a:solidFill>
              </a:rPr>
              <a:t>4. Parcours POINT D'IMPRESSION (imprimeur)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Rechercher un dossier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Saisir une référence (PRM-…), un nom ou un numéro de téléphone.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Chaque résultat affiche la PHOTO du client + nom, référence, téléphone, CNI et statut.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But : identifier visuellement le client rapidement.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7639362" y="1250000"/>
            <a:ext cx="2471276" cy="505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Consulter la fiche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Photo client + CNI recto/verso (cliquer une image pour l'agrandir en plein écran).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Toutes les informations + le badge de statut (Payée / Échouée / …).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Possibilité de reprendre une photo mal cadrée.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7639362" y="1250000"/>
            <a:ext cx="2471276" cy="505000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Valider un reçu SARA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Pour un paiement SARA en attente : vérifier la référence, le payeur et le montant extraits du reçu.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Corriger si nécessaire, puis « Valider » (ou « Refuser »).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La validation fait passer le paiement à « Payée ».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Validation d'un reçu SARA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Activer &amp; imprimer la carte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Uniquement si le paiement est réglé (Payée ou espèces).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Saisir le n° de la carte physique (PAN facultatif), puis « Imprimer &amp; remettre ».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Si le paiement a ÉCHOUÉ ou est en attente : l'activation est BLOQUÉE (message « Paiement non réglé »).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Activation (n° de carte)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B0F1E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800000" y="2700000"/>
            <a:ext cx="10592000" cy="140000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rmAutofit/>
          </a:bodyPr>
          <a:lstStyle/>
          <a:p>
            <a:pPr marL="0" indent="0" algn="l">
              <a:buNone/>
            </a:pPr>
            <a:r>
              <a:rPr lang="fr-FR" sz="3600" b="1">
                <a:solidFill>
                  <a:srgbClr val="FFFFFF"/>
                </a:solidFill>
              </a:rPr>
              <a:t>5. Parcours ADMINISTRATEUR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Vue d'ensemble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KPI : Souscriptions, Montant collecté, Réussies, En attente, ÉCHOUÉES.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 KPI « Échouées » (rouge) est cliquable → ouvre la liste filtrée sur les échecs.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Répartition des ventes par conseiller.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6050000" y="1911285"/>
            <a:ext cx="5650000" cy="372743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Configuration de la carte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Définir le prix de la carte (et frais / transport).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Ces montants s'appliquent à toutes les nouvelles souscriptions.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« Enregistrer ».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6050000" y="1911285"/>
            <a:ext cx="5650000" cy="372743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Utilisateurs (création &amp; import)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Créer un compte (nom, e-mail, rôle, mot de passe ; agence + téléphone pour un conseiller).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Import en masse : CSV ou coller un tableau ; aperçu Nouveau / Doublon / Invalide.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Doublons : ignorer ou mettre à jour ; mots de passe temporaires générés + export CSV.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6050000" y="1911285"/>
            <a:ext cx="5650000" cy="372743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Historique des paiements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Tableau détaillé : Photo · Client · Téléphone · CNI · Date · Paiement · Montant · Statut.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Filtres (recherche, statut, conseiller, dates) + chip rapide « Échouées ».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Pagination ; clic sur une ligne = détail complet ; export CSV.</a:t>
            </a:r>
          </a:p>
        </p:txBody>
      </p:sp>
      <p:pic>
        <p:nvPicPr>
          <p:cNvPr id="5" name="img5"/>
          <p:cNvPicPr>
            <a:picLocks noChangeAspect="1"/>
          </p:cNvPicPr>
          <p:nvPr/>
        </p:nvPicPr>
        <p:blipFill>
          <a:blip r:embed="rIdImg"/>
          <a:stretch>
            <a:fillRect/>
          </a:stretch>
        </p:blipFill>
        <p:spPr>
          <a:xfrm>
            <a:off x="6050000" y="1911285"/>
            <a:ext cx="5650000" cy="3727430"/>
          </a:xfrm>
          <a:prstGeom prst="rect">
            <a:avLst/>
          </a:prstGeom>
          <a:ln w="9525">
            <a:solidFill>
              <a:srgbClr val="DDDDDD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B0F1E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800000" y="2700000"/>
            <a:ext cx="10592000" cy="1400000"/>
          </a:xfrm>
          <a:prstGeom prst="rect">
            <a:avLst/>
          </a:prstGeom>
          <a:noFill/>
        </p:spPr>
        <p:txBody>
          <a:bodyPr wrap="square" lIns="91440" tIns="68580" rIns="91440" bIns="68580" anchor="ctr">
            <a:normAutofit/>
          </a:bodyPr>
          <a:lstStyle/>
          <a:p>
            <a:pPr marL="0" indent="0" algn="l">
              <a:buNone/>
            </a:pPr>
            <a:r>
              <a:rPr lang="fr-FR" sz="3600" b="1">
                <a:solidFill>
                  <a:srgbClr val="FFFFFF"/>
                </a:solidFill>
              </a:rPr>
              <a:t>6. Repères — paiement &amp; statuts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Distinguer réussi / échoué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Client : écran VERT « Paiement réussi » vs écran ROUGE « Paiement non abouti / Solde insuffisant ».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Utilisateurs : badge « Payée » (vert) vs « Échouée » (rouge) sur chaque dossier.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Un échec n'est jamais masqué par une impression (statut « Échouée » prioritaire).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Comparatif réussi vs échoué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68580" rIns="91440" bIns="68580" anchor="t">
            <a:normAutofit/>
          </a:bodyPr>
          <a:lstStyle/>
        </p:txBody>
      </p:sp>
      <p:sp>
        <p:nvSpPr>
          <p:cNvPr id="3" name="title"/>
          <p:cNvSpPr/>
          <p:nvPr/>
        </p:nvSpPr>
        <p:spPr>
          <a:xfrm>
            <a:off x="500000" y="360000"/>
            <a:ext cx="11192000" cy="760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0" indent="0" algn="l">
              <a:buNone/>
            </a:pPr>
            <a:r>
              <a:rPr lang="fr-FR" sz="2600" b="1">
                <a:solidFill>
                  <a:srgbClr val="9B0F1E"/>
                </a:solidFill>
              </a:rPr>
              <a:t>Légende des statuts</a:t>
            </a:r>
          </a:p>
        </p:txBody>
      </p:sp>
      <p:sp>
        <p:nvSpPr>
          <p:cNvPr id="4" name="body"/>
          <p:cNvSpPr/>
          <p:nvPr/>
        </p:nvSpPr>
        <p:spPr>
          <a:xfrm>
            <a:off x="500000" y="1300000"/>
            <a:ext cx="5300000" cy="5158000"/>
          </a:xfrm>
          <a:prstGeom prst="rect">
            <a:avLst/>
          </a:prstGeom>
          <a:noFill/>
        </p:spPr>
        <p:txBody>
          <a:bodyPr wrap="square" lIns="91440" tIns="68580" rIns="91440" bIns="68580" anchor="t">
            <a:normAutofit/>
          </a:bodyPr>
          <a:lstStyle/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Payée (vert) · Échouée (rouge) · KYC en attente (ambre).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À payer espèces · SARA — à valider · Imprimée.</a:t>
            </a:r>
          </a:p>
          <a:p>
            <a:pPr marL="228600" indent="-228600" algn="l">
              <a:buChar char="•"/>
            </a:pPr>
            <a:r>
              <a:rPr lang="fr-FR" sz="1500">
                <a:solidFill>
                  <a:srgbClr val="1E1416"/>
                </a:solidFill>
              </a:rPr>
              <a:t>Les badges apparaissent dans toutes les listes et le tableau admin.</a:t>
            </a:r>
          </a:p>
        </p:txBody>
      </p:sp>
      <p:sp>
        <p:nvSpPr>
          <p:cNvPr id="5" name="placeholder"/>
          <p:cNvSpPr/>
          <p:nvPr/>
        </p:nvSpPr>
        <p:spPr>
          <a:xfrm>
            <a:off x="6050000" y="1250000"/>
            <a:ext cx="5650000" cy="5050000"/>
          </a:xfrm>
          <a:prstGeom prst="rect">
            <a:avLst/>
          </a:prstGeom>
          <a:solidFill>
            <a:srgbClr val="F4F4F4"/>
          </a:solidFill>
          <a:ln w="19050">
            <a:solidFill>
              <a:srgbClr val="BBBBBB"/>
            </a:solidFill>
            <a:prstDash val="dash"/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1600" b="1">
                <a:solidFill>
                  <a:srgbClr val="888888"/>
                </a:solidFill>
              </a:rPr>
              <a:t>📷 Capture</a:t>
            </a:r>
          </a:p>
          <a:p>
            <a:pPr marL="0" indent="0" algn="ctr">
              <a:buNone/>
            </a:pPr>
            <a:r>
              <a:rPr lang="fr-FR" sz="1300">
                <a:solidFill>
                  <a:srgbClr val="888888"/>
                </a:solidFill>
              </a:rPr>
              <a:t>Légende des badges (facultatif)</a:t>
            </a:r>
          </a:p>
          <a:p>
            <a:pPr marL="0" indent="0" algn="ctr">
              <a:buNone/>
            </a:pPr>
            <a:r>
              <a:rPr lang="fr-FR" sz="1100">
                <a:solidFill>
                  <a:srgbClr val="AAAAAA"/>
                </a:solidFill>
              </a:rPr>
              <a:t>(insérer la copie d’écran ici)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81E2C"/>
      </a:accent1>
      <a:accent2>
        <a:srgbClr val="F2B632"/>
      </a:accent2>
      <a:accent3>
        <a:srgbClr val="0E7A45"/>
      </a:accent3>
      <a:accent4>
        <a:srgbClr val="9B0F1E"/>
      </a:accent4>
      <a:accent5>
        <a:srgbClr val="766164"/>
      </a:accent5>
      <a:accent6>
        <a:srgbClr val="1E141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